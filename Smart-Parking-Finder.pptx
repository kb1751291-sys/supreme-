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Bold"/>
      <p:regular r:id="rId201315"/>
    </p:embeddedFont>
    <p:embeddedFont>
      <p:font typeface="Jost"/>
      <p:regular r:id="rId201316"/>
    </p:embeddedFont>
    <p:embeddedFont>
      <p:font typeface="Jos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Smart Parking Finder bridges the urban gap between wasted private spaces and frustrated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Cruising for parking accounts for a massive share of downtown traffic congestion and unnecessary carbon emissions.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unlock underutilized inventory: residential driveways, commercial slots, and private garages.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addresses friction points across search, trust, booking, and route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seamless frictionless lifecycle from listing through automated payout.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Modern, scalable infrastructure designed for low-latency updates and reliable transaction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diversified revenue channels spanning marketplace commissions, enterprise recurring plans, and featured listings.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Tangible, compounding benefits for both city infrastructure and individual ecosystem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growth vector progresses from automated hardware detection toward full integration with metropolitan traffic grids.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Let's open the floor to questions and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1397000"/>
            <a:ext cx="6857828" cy="4064000"/>
          </a:xfrm>
          <a:prstGeom prst="rect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5479" y="1409700"/>
            <a:ext cx="6832429" cy="40386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82668" y="1816100"/>
            <a:ext cx="652763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MOBILITY PLATFORM /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282668" y="2117348"/>
            <a:ext cx="5918052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Smart Parking Finder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282668" y="2912666"/>
            <a:ext cx="1479414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7" name="Text 5"/>
          <p:cNvSpPr/>
          <p:nvPr/>
        </p:nvSpPr>
        <p:spPr>
          <a:xfrm>
            <a:off x="1282668" y="3134916"/>
            <a:ext cx="591805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Turn every empty space into income and every driver's search into a single tap.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2281238"/>
            <a:ext cx="67054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URBAN CHALLENGE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486263" y="2590106"/>
            <a:ext cx="6095848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263" y="3271143"/>
            <a:ext cx="6095848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6" name="Shape 3"/>
          <p:cNvSpPr/>
          <p:nvPr/>
        </p:nvSpPr>
        <p:spPr>
          <a:xfrm>
            <a:off x="5486263" y="3487043"/>
            <a:ext cx="6095848" cy="1089620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97405" y="3747393"/>
            <a:ext cx="547356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Drivers spend 10-20 minutes searching for parking, causing traffic, fuel waste, emissions, and stress.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30438"/>
            <a:ext cx="67054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CORE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542480"/>
            <a:ext cx="609584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Our Solution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585" y="3245743"/>
            <a:ext cx="6095848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3487043"/>
            <a:ext cx="6095848" cy="1140420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126" y="3772793"/>
            <a:ext cx="542276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two-sided platform connecting drivers with unused private parking spaces in real time.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7895" y="6466086"/>
            <a:ext cx="68052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550988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CAPABILITIES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1856680"/>
            <a:ext cx="110741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58786" y="2496443"/>
            <a:ext cx="3538945" cy="1252835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2705993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30" y="3255268"/>
            <a:ext cx="33040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Live Availability Map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02523" y="2496443"/>
            <a:ext cx="3386549" cy="1252835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468" y="2705993"/>
            <a:ext cx="444489" cy="3950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7468" y="3205857"/>
            <a:ext cx="315160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Instant Booking &amp; Payment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093865" y="2496443"/>
            <a:ext cx="3539044" cy="1252835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809" y="2705993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28809" y="3255268"/>
            <a:ext cx="330410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Owner Dashboard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58786" y="4054078"/>
            <a:ext cx="3538945" cy="1252835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30" y="4263628"/>
            <a:ext cx="444489" cy="355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730" y="4724003"/>
            <a:ext cx="33040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Smart Pricing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4402523" y="4054078"/>
            <a:ext cx="3386549" cy="1252835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468" y="4263628"/>
            <a:ext cx="388928" cy="444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37468" y="4812903"/>
            <a:ext cx="315160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8093865" y="4054078"/>
            <a:ext cx="3539044" cy="1252835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809" y="4263628"/>
            <a:ext cx="444489" cy="444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28809" y="4812903"/>
            <a:ext cx="330410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Ratings &amp; Verification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11941174" y="6466086"/>
            <a:ext cx="2505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END-TO-END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762893"/>
            <a:ext cx="110741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How It Works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3770313"/>
            <a:ext cx="2072529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582" y="4481513"/>
            <a:ext cx="171693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 lists space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110" y="3503613"/>
            <a:ext cx="2072628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86906" y="4214813"/>
            <a:ext cx="1717037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Driver searches destination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534" y="3236913"/>
            <a:ext cx="2072529" cy="1428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37329" y="3948112"/>
            <a:ext cx="1716938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Driver books &amp; pays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858" y="2970213"/>
            <a:ext cx="2072628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7653" y="3681413"/>
            <a:ext cx="17170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QR code entry/exit</a:t>
            </a:r>
            <a:endParaRPr lang="en-US" sz="1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281" y="2703513"/>
            <a:ext cx="2072628" cy="14287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38077" y="3414712"/>
            <a:ext cx="1717037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 receives earnings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>
            <a:off x="11947425" y="6466086"/>
            <a:ext cx="24427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967284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1271389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Technology Stack &amp; Uses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811139"/>
          <a:ext cx="11074123" cy="914400"/>
        </p:xfrm>
        <a:graphic>
          <a:graphicData uri="http://schemas.openxmlformats.org/drawingml/2006/table">
            <a:tbl>
              <a:tblPr/>
              <a:tblGrid>
                <a:gridCol w="3458975"/>
                <a:gridCol w="6186979"/>
                <a:gridCol w="273357"/>
                <a:gridCol w="115481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Technology Component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System Role &amp; Application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React Native/Flutter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Mobile App UI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Node.js/FastAPI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Backend APIs &amp; Booking Logic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PostgreSQL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User, booking &amp; payment data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Firebase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Real-time availability updates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Google Maps/OpenStreetMap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Maps &amp; navigation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Razorpay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UPI Payments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QR Codes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Secure access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5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9CF5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IoT Sensors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Future occupancy detection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066727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MONETIZATION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2375595"/>
            <a:ext cx="1107412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8786" y="3139182"/>
            <a:ext cx="3386549" cy="165209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9928" y="3501132"/>
            <a:ext cx="307540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TRANSACTIONAL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9928" y="3833177"/>
            <a:ext cx="2764264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10-15% commission per booking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02523" y="3139182"/>
            <a:ext cx="3386549" cy="1652091"/>
          </a:xfrm>
          <a:prstGeom prst="rect">
            <a:avLst/>
          </a:prstGeom>
          <a:solidFill>
            <a:srgbClr val="4A3670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3666" y="3501132"/>
            <a:ext cx="307540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B2B CONTRACTS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13666" y="3833177"/>
            <a:ext cx="2764264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Commercial subscriptions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46261" y="3139182"/>
            <a:ext cx="3386648" cy="165209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57403" y="3501132"/>
            <a:ext cx="3075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PROMOTION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57403" y="3833177"/>
            <a:ext cx="2764364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Premium parking listings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951393" y="6466086"/>
            <a:ext cx="2403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020987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VALUE CREATION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2329855"/>
            <a:ext cx="1107412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Impact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8786" y="3042642"/>
            <a:ext cx="2539936" cy="179437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3328392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30" y="3788767"/>
            <a:ext cx="23049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MOBILITY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3730" y="4066520"/>
            <a:ext cx="207004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Less traffic congestion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403515" y="3042642"/>
            <a:ext cx="2539936" cy="179437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459" y="3328392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8459" y="3788767"/>
            <a:ext cx="23049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38459" y="4066520"/>
            <a:ext cx="207004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Lower emissions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248244" y="3042642"/>
            <a:ext cx="2539936" cy="1794371"/>
          </a:xfrm>
          <a:prstGeom prst="rect">
            <a:avLst/>
          </a:prstGeom>
          <a:solidFill>
            <a:srgbClr val="4A3670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188" y="3328392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83188" y="3788767"/>
            <a:ext cx="23049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FINANCIAL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483188" y="4066520"/>
            <a:ext cx="207004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Extra income for owners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9092973" y="3042642"/>
            <a:ext cx="2539936" cy="179437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917" y="3328392"/>
            <a:ext cx="355591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7917" y="3788767"/>
            <a:ext cx="23049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PRODUCTIVITY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9327917" y="4066520"/>
            <a:ext cx="207004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Time savings for drivers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434902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1743770"/>
            <a:ext cx="1107412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Future 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8786" y="3965178"/>
            <a:ext cx="11074123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62231" y="3431778"/>
            <a:ext cx="19050" cy="533400"/>
          </a:xfrm>
          <a:prstGeom prst="roundRect">
            <a:avLst>
              <a:gd name="adj" fmla="val 49999"/>
            </a:avLst>
          </a:prstGeom>
          <a:solidFill>
            <a:srgbClr val="191919"/>
          </a:solidFill>
          <a:ln/>
        </p:spPr>
      </p:sp>
      <p:sp>
        <p:nvSpPr>
          <p:cNvPr id="6" name="Shape 4"/>
          <p:cNvSpPr/>
          <p:nvPr/>
        </p:nvSpPr>
        <p:spPr>
          <a:xfrm>
            <a:off x="3205082" y="3898503"/>
            <a:ext cx="133347" cy="133350"/>
          </a:xfrm>
          <a:prstGeom prst="ellipse">
            <a:avLst/>
          </a:prstGeom>
          <a:solidFill>
            <a:srgbClr val="4A3670"/>
          </a:solidFill>
          <a:ln/>
        </p:spPr>
      </p:sp>
      <p:sp>
        <p:nvSpPr>
          <p:cNvPr id="7" name="Shape 5"/>
          <p:cNvSpPr/>
          <p:nvPr/>
        </p:nvSpPr>
        <p:spPr>
          <a:xfrm>
            <a:off x="558786" y="2507357"/>
            <a:ext cx="5425939" cy="924421"/>
          </a:xfrm>
          <a:prstGeom prst="roundRect">
            <a:avLst>
              <a:gd name="adj" fmla="val 1236"/>
            </a:avLst>
          </a:prstGeom>
          <a:solidFill>
            <a:srgbClr val="17102B"/>
          </a:solidFill>
          <a:ln w="19050">
            <a:solidFill>
              <a:srgbClr val="4A36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631" y="2704207"/>
            <a:ext cx="503224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PHASE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5581" y="2997498"/>
            <a:ext cx="50322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IoT-based occupancy detection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6323" y="3965178"/>
            <a:ext cx="19050" cy="533400"/>
          </a:xfrm>
          <a:prstGeom prst="roundRect">
            <a:avLst>
              <a:gd name="adj" fmla="val 49999"/>
            </a:avLst>
          </a:prstGeom>
          <a:solidFill>
            <a:srgbClr val="191919"/>
          </a:solidFill>
          <a:ln/>
        </p:spPr>
      </p:sp>
      <p:sp>
        <p:nvSpPr>
          <p:cNvPr id="11" name="Shape 9"/>
          <p:cNvSpPr/>
          <p:nvPr/>
        </p:nvSpPr>
        <p:spPr>
          <a:xfrm>
            <a:off x="6029174" y="3898503"/>
            <a:ext cx="133347" cy="133350"/>
          </a:xfrm>
          <a:prstGeom prst="ellipse">
            <a:avLst/>
          </a:prstGeom>
          <a:solidFill>
            <a:srgbClr val="4A367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2878" y="4498578"/>
            <a:ext cx="5425939" cy="924421"/>
          </a:xfrm>
          <a:prstGeom prst="roundRect">
            <a:avLst>
              <a:gd name="adj" fmla="val 1236"/>
            </a:avLst>
          </a:prstGeom>
          <a:solidFill>
            <a:srgbClr val="17102B"/>
          </a:solidFill>
          <a:ln w="19050">
            <a:solidFill>
              <a:srgbClr val="4A36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9723" y="4695428"/>
            <a:ext cx="503224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PHASE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79673" y="4988719"/>
            <a:ext cx="50322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AI-powered dynamic pricing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910415" y="3431778"/>
            <a:ext cx="19050" cy="533400"/>
          </a:xfrm>
          <a:prstGeom prst="roundRect">
            <a:avLst>
              <a:gd name="adj" fmla="val 49999"/>
            </a:avLst>
          </a:prstGeom>
          <a:solidFill>
            <a:srgbClr val="191919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3266" y="3898503"/>
            <a:ext cx="133347" cy="133350"/>
          </a:xfrm>
          <a:prstGeom prst="ellipse">
            <a:avLst/>
          </a:prstGeom>
          <a:solidFill>
            <a:srgbClr val="4A367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6970" y="2507357"/>
            <a:ext cx="5425939" cy="924421"/>
          </a:xfrm>
          <a:prstGeom prst="roundRect">
            <a:avLst>
              <a:gd name="adj" fmla="val 1236"/>
            </a:avLst>
          </a:prstGeom>
          <a:solidFill>
            <a:srgbClr val="17102B"/>
          </a:solidFill>
          <a:ln w="19050">
            <a:solidFill>
              <a:srgbClr val="4A36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3815" y="2704207"/>
            <a:ext cx="503224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PHASE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3815" y="2997498"/>
            <a:ext cx="50322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Smart city integration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940975" y="6466086"/>
            <a:ext cx="25072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93930" y="1778000"/>
            <a:ext cx="6603835" cy="3302000"/>
          </a:xfrm>
          <a:prstGeom prst="rect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06630" y="1790700"/>
            <a:ext cx="6578435" cy="32766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89218" y="2286000"/>
            <a:ext cx="561326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94190" y="3079750"/>
            <a:ext cx="140321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6" name="Text 4"/>
          <p:cNvSpPr/>
          <p:nvPr/>
        </p:nvSpPr>
        <p:spPr>
          <a:xfrm>
            <a:off x="3289218" y="3316288"/>
            <a:ext cx="5613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2026-10-12T13:38:23Z</dcterms:created>
  <dcterms:modified xsi:type="dcterms:W3CDTF">2026-10-12T13:38:23Z</dcterms:modified>
</cp:coreProperties>
</file>